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5EA"/>
    <a:srgbClr val="159586"/>
    <a:srgbClr val="1DBAA6"/>
    <a:srgbClr val="2BD4BC"/>
    <a:srgbClr val="72EDD7"/>
    <a:srgbClr val="71E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>
        <p:scale>
          <a:sx n="60" d="100"/>
          <a:sy n="60" d="100"/>
        </p:scale>
        <p:origin x="1824" y="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EE0F3-A10B-A6B0-1FC4-CF95C7262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1EE9FD-A6FB-9E70-C1E0-04C0A4FF13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9D642-1065-4ED5-423C-FFB993ED3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A3BB9-F75F-4F93-B588-FC3FEC225DC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FF08F-AFAD-4039-5F47-26D629B72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7200D-3016-BC0C-18E0-27EB3107F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51F15-5FD1-4C2D-81E7-02843F7A0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559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9A5EA-DE7C-8C0B-FD6E-8E1138AA7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E2527-0BF0-6CEA-DEFD-5DF1C8191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3F8CE-3757-4C20-0571-35D46EFDC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A3BB9-F75F-4F93-B588-FC3FEC225DC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B01D5-3B6E-421F-7757-13D659187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24142-B0B4-F3BA-26C1-BDE8CF182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51F15-5FD1-4C2D-81E7-02843F7A0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88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D2F84-1E72-58DB-9658-173068CD7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F89B43-FFC3-C2A5-85F7-6EEC51985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434F6-B45C-AF4E-68D9-59B1BB121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A3BB9-F75F-4F93-B588-FC3FEC225DC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612C1-6D38-8AEA-541F-B5B445AD8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F80DC-FF62-8B1E-E9AE-DC3BB46FC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51F15-5FD1-4C2D-81E7-02843F7A0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63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CEDE8-E04C-8260-E368-E287A5C1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E8C5-DD36-FC0D-49B6-467B736FD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4D464-C642-A01A-2A3A-92CD4EAB0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323E1-92D3-D4A5-6BF6-054C37D31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A3BB9-F75F-4F93-B588-FC3FEC225DC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75977-ED82-85A6-C976-D9580599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820F2-6904-DE25-767F-987E1420A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51F15-5FD1-4C2D-81E7-02843F7A0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5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8A0FA-9030-B4B2-9FF1-3A48C5459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BB8A6-939C-5823-9541-DABD2F4B5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460185-9A2C-E52A-582D-C3BC4E6C59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4E4A09-0E1E-688E-53F7-014A8C30A6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A774F5-FC8B-0D55-80AB-629661E266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BD5C17-8558-1806-343D-5971217A2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A3BB9-F75F-4F93-B588-FC3FEC225DC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91F474-62D3-8EA8-EF03-79A5C66B5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7881C9-66EB-B8A0-1F13-7C8F0CB73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51F15-5FD1-4C2D-81E7-02843F7A0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59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FF393-B6A1-7E77-D0AD-3FC8BFA87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2E6AF2-BD8A-D8F4-1E6B-00075115F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A3BB9-F75F-4F93-B588-FC3FEC225DC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59DFA3-BADE-0C55-1577-A738954BA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952FBA-374F-0DCA-2AB8-D3A9FAFB6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51F15-5FD1-4C2D-81E7-02843F7A0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95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9C2D80-60A8-9092-31C7-6412897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A3BB9-F75F-4F93-B588-FC3FEC225DC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E4F032-697A-934F-7EC7-C845A2E3E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4DA9E-214A-F50C-732D-256861A91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51F15-5FD1-4C2D-81E7-02843F7A0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87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6642F-A1D1-C0A1-30D2-1ECB0B96D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DAC33-0E7F-29E4-D047-1E4414784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77401-50B8-24F2-2480-2296DFFCF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308C1-196B-2E3F-2342-F69119567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A3BB9-F75F-4F93-B588-FC3FEC225DC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AC959A-A877-F0ED-BF6E-E6001AD41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D5775-0535-1A05-A449-CE3EDFF8F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51F15-5FD1-4C2D-81E7-02843F7A0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994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DA9D-892E-B348-458C-EE671D96C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B23C7C-6B33-8FBE-61DD-5750D58D2F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6EE9A-8168-061D-AA4B-C5E74965E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12090-2EDC-8998-BC92-A36840D17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A3BB9-F75F-4F93-B588-FC3FEC225DC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48141-0D51-5D05-10B7-D9F2D774D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2ECB9-6AAD-94C4-BCAB-5A4029053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51F15-5FD1-4C2D-81E7-02843F7A0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745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3D481-E5CE-A2AD-5361-8AE1B836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C8A35-0D8E-677F-78E9-6787DBAB0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39E86-92A2-6C18-84E8-9DB5905C7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A3BB9-F75F-4F93-B588-FC3FEC225DC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BB432-94E0-1040-F193-55E60A907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F60FC-E825-25A1-E3F8-B8FCB6148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51F15-5FD1-4C2D-81E7-02843F7A0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35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7FF45F-CFD3-D65B-1C81-4777219BAF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52E8EC-AFCA-24B7-BD3D-D57DDC907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D0A3C-0B80-F9E2-BCB9-FC64AF79E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A3BB9-F75F-4F93-B588-FC3FEC225DC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16513-4AF7-27AC-2669-6B01C7937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E4CEE-AEC8-5664-1F08-654F50B4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51F15-5FD1-4C2D-81E7-02843F7A0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46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D05496-ECB2-F1B1-4E41-EC1F71762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E09D8-01C4-2489-4458-A82B002CD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B9D5B-615E-1A04-2D7C-ABDA27EA8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CA3BB9-F75F-4F93-B588-FC3FEC225DC9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2B511-154A-4680-4C07-BC001755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7A7F6-1C5C-FDA1-3CA1-D4C9B0600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C51F15-5FD1-4C2D-81E7-02843F7A0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229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1E412C4-B27A-2EF8-5812-EFF50D03DBA8}"/>
              </a:ext>
            </a:extLst>
          </p:cNvPr>
          <p:cNvSpPr txBox="1"/>
          <p:nvPr/>
        </p:nvSpPr>
        <p:spPr>
          <a:xfrm>
            <a:off x="868680" y="2567225"/>
            <a:ext cx="476894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Semantic Model</a:t>
            </a:r>
            <a:br>
              <a:rPr lang="en-US" sz="4400" b="1" dirty="0"/>
            </a:br>
            <a:r>
              <a:rPr lang="en-US" sz="4400" b="1" dirty="0"/>
              <a:t>Maintenance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F77513-C782-4587-D4E8-9561FF3F41E3}"/>
              </a:ext>
            </a:extLst>
          </p:cNvPr>
          <p:cNvSpPr txBox="1"/>
          <p:nvPr/>
        </p:nvSpPr>
        <p:spPr>
          <a:xfrm>
            <a:off x="868680" y="4040761"/>
            <a:ext cx="33199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Fabric Notebooks +</a:t>
            </a:r>
            <a:br>
              <a:rPr lang="en-US" dirty="0"/>
            </a:br>
            <a:r>
              <a:rPr lang="en-US" dirty="0"/>
              <a:t>Semantic Link Labs</a:t>
            </a:r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55ABE08-1A5A-8020-F329-9D69F735F261}"/>
              </a:ext>
            </a:extLst>
          </p:cNvPr>
          <p:cNvGrpSpPr/>
          <p:nvPr/>
        </p:nvGrpSpPr>
        <p:grpSpPr>
          <a:xfrm>
            <a:off x="787791" y="2197893"/>
            <a:ext cx="6914270" cy="369332"/>
            <a:chOff x="868680" y="2197893"/>
            <a:chExt cx="6914270" cy="36933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360CABD-48EE-497A-583C-CCE94BF0D495}"/>
                </a:ext>
              </a:extLst>
            </p:cNvPr>
            <p:cNvSpPr txBox="1"/>
            <p:nvPr/>
          </p:nvSpPr>
          <p:spPr>
            <a:xfrm>
              <a:off x="1684606" y="2197893"/>
              <a:ext cx="60983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 dirty="0">
                  <a:effectLst/>
                  <a:latin typeface="ui-sans-serif"/>
                </a:rPr>
                <a:t>Microsoft Fabric + Power BI</a:t>
              </a:r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77D6414-8A47-8E82-03BF-1D031307242B}"/>
                </a:ext>
              </a:extLst>
            </p:cNvPr>
            <p:cNvSpPr/>
            <p:nvPr/>
          </p:nvSpPr>
          <p:spPr>
            <a:xfrm>
              <a:off x="868680" y="2347204"/>
              <a:ext cx="815926" cy="45719"/>
            </a:xfrm>
            <a:prstGeom prst="rect">
              <a:avLst/>
            </a:prstGeom>
            <a:solidFill>
              <a:srgbClr val="71ECD6"/>
            </a:solidFill>
            <a:ln>
              <a:solidFill>
                <a:srgbClr val="72EDD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71ECD6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6372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C7EF9-F8BA-752B-E863-1D432C501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2CC1D9E-FDF9-1447-BC32-6CB23ED4CF2A}"/>
              </a:ext>
            </a:extLst>
          </p:cNvPr>
          <p:cNvSpPr txBox="1"/>
          <p:nvPr/>
        </p:nvSpPr>
        <p:spPr>
          <a:xfrm>
            <a:off x="787791" y="306964"/>
            <a:ext cx="96820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Agenda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ADC21A-E35D-F872-873E-D54725D05728}"/>
              </a:ext>
            </a:extLst>
          </p:cNvPr>
          <p:cNvSpPr txBox="1"/>
          <p:nvPr/>
        </p:nvSpPr>
        <p:spPr>
          <a:xfrm>
            <a:off x="787791" y="2644170"/>
            <a:ext cx="93550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3200" dirty="0"/>
              <a:t>Introduction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3200" dirty="0"/>
              <a:t>Background Technical Information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3200" dirty="0"/>
              <a:t>Demos</a:t>
            </a:r>
          </a:p>
        </p:txBody>
      </p:sp>
    </p:spTree>
    <p:extLst>
      <p:ext uri="{BB962C8B-B14F-4D97-AF65-F5344CB8AC3E}">
        <p14:creationId xmlns:p14="http://schemas.microsoft.com/office/powerpoint/2010/main" val="1833737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4E64F-D9B4-3099-0F55-F82285266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BA42F4F-C169-F2AB-EC3E-B6541E804C34}"/>
              </a:ext>
            </a:extLst>
          </p:cNvPr>
          <p:cNvSpPr txBox="1"/>
          <p:nvPr/>
        </p:nvSpPr>
        <p:spPr>
          <a:xfrm>
            <a:off x="787791" y="306964"/>
            <a:ext cx="96820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Session Goal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59437C-7972-C9F4-4930-4C09516B02D2}"/>
              </a:ext>
            </a:extLst>
          </p:cNvPr>
          <p:cNvSpPr txBox="1"/>
          <p:nvPr/>
        </p:nvSpPr>
        <p:spPr>
          <a:xfrm>
            <a:off x="787791" y="2644170"/>
            <a:ext cx="1091652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71ECD6"/>
              </a:buClr>
            </a:pPr>
            <a:r>
              <a:rPr lang="en-US" sz="3200" dirty="0"/>
              <a:t>You leave: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3200" dirty="0"/>
              <a:t>excited about Semantic Link Labs 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3200" dirty="0"/>
              <a:t>thinking about to use Fabric Notebooks to do more / automate</a:t>
            </a:r>
          </a:p>
        </p:txBody>
      </p:sp>
    </p:spTree>
    <p:extLst>
      <p:ext uri="{BB962C8B-B14F-4D97-AF65-F5344CB8AC3E}">
        <p14:creationId xmlns:p14="http://schemas.microsoft.com/office/powerpoint/2010/main" val="2227711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49B1B-3EEE-2CBE-29D2-29368DAE0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A175D37-D038-6869-3EC2-17F61812F012}"/>
              </a:ext>
            </a:extLst>
          </p:cNvPr>
          <p:cNvSpPr txBox="1"/>
          <p:nvPr/>
        </p:nvSpPr>
        <p:spPr>
          <a:xfrm>
            <a:off x="787791" y="306964"/>
            <a:ext cx="96820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Who am I?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A0D0F62-7C0D-FD35-2C6C-AB6E8D324761}"/>
              </a:ext>
            </a:extLst>
          </p:cNvPr>
          <p:cNvGrpSpPr/>
          <p:nvPr/>
        </p:nvGrpSpPr>
        <p:grpSpPr>
          <a:xfrm>
            <a:off x="683895" y="1403252"/>
            <a:ext cx="11274376" cy="4051496"/>
            <a:chOff x="717426" y="1427091"/>
            <a:chExt cx="11274376" cy="405149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93A566E-3565-9DA6-0A80-B035469C316B}"/>
                </a:ext>
              </a:extLst>
            </p:cNvPr>
            <p:cNvGrpSpPr/>
            <p:nvPr/>
          </p:nvGrpSpPr>
          <p:grpSpPr>
            <a:xfrm>
              <a:off x="4768948" y="2335096"/>
              <a:ext cx="7222854" cy="2629333"/>
              <a:chOff x="787791" y="1497245"/>
              <a:chExt cx="7222854" cy="2629333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B1A5764A-8B45-B63E-637A-7025149619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2393" y="1497245"/>
                <a:ext cx="1466662" cy="599630"/>
              </a:xfrm>
              <a:prstGeom prst="rect">
                <a:avLst/>
              </a:prstGeom>
            </p:spPr>
          </p:pic>
          <p:pic>
            <p:nvPicPr>
              <p:cNvPr id="1028" name="Picture 4">
                <a:extLst>
                  <a:ext uri="{FF2B5EF4-FFF2-40B4-BE49-F238E27FC236}">
                    <a16:creationId xmlns:a16="http://schemas.microsoft.com/office/drawing/2014/main" id="{7D1BEDFB-D16C-C6EA-D056-9ABC25A8B4B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2393" y="2298400"/>
                <a:ext cx="914746" cy="6331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4DB0D0-2702-2DEB-0309-B4E21293E28A}"/>
                  </a:ext>
                </a:extLst>
              </p:cNvPr>
              <p:cNvSpPr txBox="1"/>
              <p:nvPr/>
            </p:nvSpPr>
            <p:spPr>
              <a:xfrm>
                <a:off x="2467975" y="2445711"/>
                <a:ext cx="470188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https://www.youtube.com/@DropMaterializedView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CB40AE-37D5-F8A8-E1B2-219CF8CE504E}"/>
                  </a:ext>
                </a:extLst>
              </p:cNvPr>
              <p:cNvSpPr txBox="1"/>
              <p:nvPr/>
            </p:nvSpPr>
            <p:spPr>
              <a:xfrm>
                <a:off x="2489784" y="1619397"/>
                <a:ext cx="470188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Power BI MVP</a:t>
                </a:r>
              </a:p>
            </p:txBody>
          </p:sp>
          <p:pic>
            <p:nvPicPr>
              <p:cNvPr id="1032" name="Picture 8" descr="Linkedin Logo PNG Free Download 21460490 PNG">
                <a:extLst>
                  <a:ext uri="{FF2B5EF4-FFF2-40B4-BE49-F238E27FC236}">
                    <a16:creationId xmlns:a16="http://schemas.microsoft.com/office/drawing/2014/main" id="{288D4C10-D454-7BCF-3E64-2A6A1786BE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26" t="15822" r="15525" b="18339"/>
              <a:stretch>
                <a:fillRect/>
              </a:stretch>
            </p:blipFill>
            <p:spPr bwMode="auto">
              <a:xfrm>
                <a:off x="787791" y="3053323"/>
                <a:ext cx="1123950" cy="10732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747AAF-5B67-8600-789D-9B402CBD8B04}"/>
                  </a:ext>
                </a:extLst>
              </p:cNvPr>
              <p:cNvSpPr txBox="1"/>
              <p:nvPr/>
            </p:nvSpPr>
            <p:spPr>
              <a:xfrm>
                <a:off x="2489784" y="3420674"/>
                <a:ext cx="5520861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https://www.linkedin.com/in/edward-charles-085025b1/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97BBA36-7C40-C4F2-196F-84BC784E263B}"/>
                </a:ext>
              </a:extLst>
            </p:cNvPr>
            <p:cNvGrpSpPr/>
            <p:nvPr/>
          </p:nvGrpSpPr>
          <p:grpSpPr>
            <a:xfrm>
              <a:off x="717426" y="2218806"/>
              <a:ext cx="3242680" cy="2420388"/>
              <a:chOff x="7619257" y="1381002"/>
              <a:chExt cx="3242680" cy="2420388"/>
            </a:xfrm>
          </p:grpSpPr>
          <p:pic>
            <p:nvPicPr>
              <p:cNvPr id="1034" name="Picture 10" descr="Fisher Investments Logo &amp; Brand Assets (SVG, PNG and vector) - Brandfetch">
                <a:extLst>
                  <a:ext uri="{FF2B5EF4-FFF2-40B4-BE49-F238E27FC236}">
                    <a16:creationId xmlns:a16="http://schemas.microsoft.com/office/drawing/2014/main" id="{91F775EE-3B0B-B696-3747-AB234BA7F1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88509" y="1731462"/>
                <a:ext cx="769441" cy="7694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6" name="Picture 12" descr="Nike Logo PNG Transparent &amp; SVG Vector - Freebie Supply">
                <a:extLst>
                  <a:ext uri="{FF2B5EF4-FFF2-40B4-BE49-F238E27FC236}">
                    <a16:creationId xmlns:a16="http://schemas.microsoft.com/office/drawing/2014/main" id="{78B3FE19-DA70-E74B-40BF-B58F491249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395275" y="1381002"/>
                <a:ext cx="1466662" cy="14666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0" name="Picture 16" descr="Download Adidas Logo in SVG Vector or PNG File Format - Logo.wine">
                <a:extLst>
                  <a:ext uri="{FF2B5EF4-FFF2-40B4-BE49-F238E27FC236}">
                    <a16:creationId xmlns:a16="http://schemas.microsoft.com/office/drawing/2014/main" id="{8153396F-2F64-64EF-2242-E85E0E4DD4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9257" y="2662761"/>
                <a:ext cx="1707944" cy="11386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2" name="Picture 18" descr="Banfield Pet Hospital (banfieldpethospital) on BuzzFeed">
                <a:extLst>
                  <a:ext uri="{FF2B5EF4-FFF2-40B4-BE49-F238E27FC236}">
                    <a16:creationId xmlns:a16="http://schemas.microsoft.com/office/drawing/2014/main" id="{B6EFF23A-C876-2C4D-5E96-7CEB992582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555134" y="2811959"/>
                <a:ext cx="914746" cy="9147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525E174-3D86-D4CF-C21D-5F935CDB1CFD}"/>
                </a:ext>
              </a:extLst>
            </p:cNvPr>
            <p:cNvCxnSpPr/>
            <p:nvPr/>
          </p:nvCxnSpPr>
          <p:spPr>
            <a:xfrm>
              <a:off x="4409315" y="1427091"/>
              <a:ext cx="0" cy="40514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65456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D7B71-BFEC-3A7A-FD68-9A524627A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3F33083-FDDA-EC63-7BB9-BEF81D206D33}"/>
              </a:ext>
            </a:extLst>
          </p:cNvPr>
          <p:cNvSpPr txBox="1"/>
          <p:nvPr/>
        </p:nvSpPr>
        <p:spPr>
          <a:xfrm>
            <a:off x="787791" y="306964"/>
            <a:ext cx="96820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What is a Fabric Semantic Model?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9977FB-DEE8-4FF5-7911-7B16D2379BD0}"/>
              </a:ext>
            </a:extLst>
          </p:cNvPr>
          <p:cNvSpPr txBox="1"/>
          <p:nvPr/>
        </p:nvSpPr>
        <p:spPr>
          <a:xfrm>
            <a:off x="787791" y="1314624"/>
            <a:ext cx="935501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3200" dirty="0"/>
              <a:t>A Fabric semantic model is a governed, reusable analytical data model that defines business logic: such as tables, relationships, measures, and calculations. 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3200" dirty="0"/>
              <a:t>It is independent of any single report.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3200" dirty="0"/>
              <a:t>It provides a consistent, centralized semantic layer that tools like Power BI, Excel, and Copilot can query for accurate, repeatable insights.</a:t>
            </a:r>
          </a:p>
        </p:txBody>
      </p:sp>
    </p:spTree>
    <p:extLst>
      <p:ext uri="{BB962C8B-B14F-4D97-AF65-F5344CB8AC3E}">
        <p14:creationId xmlns:p14="http://schemas.microsoft.com/office/powerpoint/2010/main" val="497810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91100-83EF-4EB8-380B-3C61BFA62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8B53D9D-2445-74F2-4C3F-A15871C7689F}"/>
              </a:ext>
            </a:extLst>
          </p:cNvPr>
          <p:cNvSpPr txBox="1"/>
          <p:nvPr/>
        </p:nvSpPr>
        <p:spPr>
          <a:xfrm>
            <a:off x="787791" y="306964"/>
            <a:ext cx="96820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What is a Fabric Notebook?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FDC4D7-7835-FAFF-875E-CE2B385FDB26}"/>
              </a:ext>
            </a:extLst>
          </p:cNvPr>
          <p:cNvSpPr txBox="1"/>
          <p:nvPr/>
        </p:nvSpPr>
        <p:spPr>
          <a:xfrm>
            <a:off x="787791" y="1314624"/>
            <a:ext cx="935501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A Browser-based, interactive coding environment (no installation required), built into Microsoft Fabric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Supports multiple languages: Python, SQL, and Spark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Connects directly to Fabric data sources (e.g., Lakehouse)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Combines code, visualizations, and markdown in one workspace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Real-time execution with immediate results and visual outputs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Easy collaboration and sharing within teams</a:t>
            </a:r>
          </a:p>
        </p:txBody>
      </p:sp>
    </p:spTree>
    <p:extLst>
      <p:ext uri="{BB962C8B-B14F-4D97-AF65-F5344CB8AC3E}">
        <p14:creationId xmlns:p14="http://schemas.microsoft.com/office/powerpoint/2010/main" val="3710139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2FEB7-EF5D-080A-12F4-0AB830077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161FFAC-AF07-F5FC-1282-1AB9006B18FE}"/>
              </a:ext>
            </a:extLst>
          </p:cNvPr>
          <p:cNvSpPr txBox="1"/>
          <p:nvPr/>
        </p:nvSpPr>
        <p:spPr>
          <a:xfrm>
            <a:off x="787791" y="306964"/>
            <a:ext cx="96820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What is Semantic Link Labs?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6AC70A-206E-3FC8-B455-F4FBAE13BC74}"/>
              </a:ext>
            </a:extLst>
          </p:cNvPr>
          <p:cNvSpPr txBox="1"/>
          <p:nvPr/>
        </p:nvSpPr>
        <p:spPr>
          <a:xfrm>
            <a:off x="787791" y="1314624"/>
            <a:ext cx="93550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A Microsoft-Owned Open-source project that extends Semantic Link (a Python Library designed for Microsoft Fabric Notebooks):  https://github.com/microsoft/semantic-link-labs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It allows you to programmatically interact with all kinds of artifacts in Microsoft Fabric. 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2800" dirty="0"/>
              <a:t>Anyone in the community can contribute but the vast majority of code has been written by Michael Kovalsky: https://www.linkedin.com/in/michaelkovalsky/</a:t>
            </a:r>
          </a:p>
        </p:txBody>
      </p:sp>
    </p:spTree>
    <p:extLst>
      <p:ext uri="{BB962C8B-B14F-4D97-AF65-F5344CB8AC3E}">
        <p14:creationId xmlns:p14="http://schemas.microsoft.com/office/powerpoint/2010/main" val="1798602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2CFEA-EF2F-8F63-95C0-A40374FCA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89D86E7-8B75-4222-7370-EF7223132DD9}"/>
              </a:ext>
            </a:extLst>
          </p:cNvPr>
          <p:cNvSpPr txBox="1"/>
          <p:nvPr/>
        </p:nvSpPr>
        <p:spPr>
          <a:xfrm>
            <a:off x="787791" y="306964"/>
            <a:ext cx="96820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What part of Sematic Link Labs are we covering?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651E7D-4806-288A-4DFE-91DDA7B8FC25}"/>
              </a:ext>
            </a:extLst>
          </p:cNvPr>
          <p:cNvSpPr txBox="1"/>
          <p:nvPr/>
        </p:nvSpPr>
        <p:spPr>
          <a:xfrm>
            <a:off x="787791" y="3352056"/>
            <a:ext cx="31412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1200" dirty="0" err="1"/>
              <a:t>sempy_labs</a:t>
            </a:r>
            <a:r>
              <a:rPr lang="en-US" sz="1200" dirty="0"/>
              <a:t> package (top-level API functions )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1200" dirty="0" err="1"/>
              <a:t>sempy_labs.tom</a:t>
            </a:r>
            <a:r>
              <a:rPr lang="en-US" sz="12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1200" dirty="0" err="1"/>
              <a:t>sempy_labs.semantic_model</a:t>
            </a:r>
            <a:r>
              <a:rPr lang="en-US" sz="1200" dirty="0"/>
              <a:t> package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8D2336-C26E-D2D6-E6EC-08F6A2D03401}"/>
              </a:ext>
            </a:extLst>
          </p:cNvPr>
          <p:cNvSpPr txBox="1"/>
          <p:nvPr/>
        </p:nvSpPr>
        <p:spPr>
          <a:xfrm>
            <a:off x="5628835" y="1786379"/>
            <a:ext cx="5759117" cy="4769582"/>
          </a:xfrm>
          <a:prstGeom prst="rect">
            <a:avLst/>
          </a:prstGeom>
          <a:noFill/>
        </p:spPr>
        <p:txBody>
          <a:bodyPr wrap="none" numCol="3" rtlCol="0">
            <a:noAutofit/>
          </a:bodyPr>
          <a:lstStyle/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sempy_labs.admin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sempy_labs.apache_airflow_job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sempy_labs.connection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sempy_labs.data_pipeline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sempy_labs.dataflow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sempy_labs.daxlib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sempy_labs.deployment_pipeline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sempy_labs.directlake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sempy_labs.environment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sempy_labs.event_schema_set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sempy_labs.eventhouse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sempy_labs.eventstream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sempy_labs.external_data_share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sempy_labs.gateway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sempy_labs.git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sempy_labs.graph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sempy_labs.graph_model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sempy_labs.graphql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sempy_labs.key_vault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sempy_labs.kql_dashboard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sempy_labs.kql_database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sempy_labs.kql_queryset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sempy_labs.lakehouse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sempy_labs.managed_private_endpoint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sempy_labs.migration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sempy_labs.mirrored_azure_databricks_catalog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sempy_labs.mirrored_database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sempy_labs.mirrored_warehouse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sempy_labs.ml_experiment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sempy_labs.ml_model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sempy_labs.mounted_data_factory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sempy_labs.notebook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sempy_labs.operations_agent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sempy_labs.report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sempy_labs.rti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sempy_labs.snowflake_database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sempy_labs.spark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sempy_labs.sql_database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sempy_labs.sql_endpoint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sempy_labs.surge_protection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sempy_labs.theme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sempy_labs.variable_library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sempy_labs.warehouse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sempy_labs.warehouse_snapshot</a:t>
            </a:r>
            <a:r>
              <a:rPr lang="en-US" sz="900" dirty="0"/>
              <a:t> package</a:t>
            </a:r>
          </a:p>
          <a:p>
            <a:pPr marL="457200" indent="-457200">
              <a:buClr>
                <a:srgbClr val="71ECD6"/>
              </a:buClr>
              <a:buFont typeface="Wingdings" panose="05000000000000000000" pitchFamily="2" charset="2"/>
              <a:buChar char="§"/>
            </a:pPr>
            <a:r>
              <a:rPr lang="en-US" sz="900" dirty="0" err="1"/>
              <a:t>sempy_labs.workspace</a:t>
            </a:r>
            <a:r>
              <a:rPr lang="en-US" sz="900" dirty="0"/>
              <a:t> package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6C4D90-2828-F8A9-1DDB-515025FAC568}"/>
              </a:ext>
            </a:extLst>
          </p:cNvPr>
          <p:cNvSpPr txBox="1"/>
          <p:nvPr/>
        </p:nvSpPr>
        <p:spPr>
          <a:xfrm>
            <a:off x="914538" y="2260397"/>
            <a:ext cx="38644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/>
              <a:t>Functions from </a:t>
            </a:r>
            <a:r>
              <a:rPr lang="en-US" sz="1600" b="1" dirty="0"/>
              <a:t>the top-level </a:t>
            </a:r>
            <a:r>
              <a:rPr lang="en-US" sz="1600" b="1"/>
              <a:t>package + </a:t>
            </a:r>
            <a:r>
              <a:rPr lang="en-US" sz="1600" b="1" dirty="0"/>
              <a:t>2 out of 48 Sub-Packages</a:t>
            </a:r>
          </a:p>
        </p:txBody>
      </p:sp>
    </p:spTree>
    <p:extLst>
      <p:ext uri="{BB962C8B-B14F-4D97-AF65-F5344CB8AC3E}">
        <p14:creationId xmlns:p14="http://schemas.microsoft.com/office/powerpoint/2010/main" val="716444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664</Words>
  <Application>Microsoft Office PowerPoint</Application>
  <PresentationFormat>Widescreen</PresentationFormat>
  <Paragraphs>80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ui-sans-serif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Edward Charles</dc:creator>
  <cp:lastModifiedBy>Edward Charles</cp:lastModifiedBy>
  <cp:revision>10</cp:revision>
  <dcterms:created xsi:type="dcterms:W3CDTF">2026-04-24T22:19:58Z</dcterms:created>
  <dcterms:modified xsi:type="dcterms:W3CDTF">2026-04-25T07:16:27Z</dcterms:modified>
</cp:coreProperties>
</file>